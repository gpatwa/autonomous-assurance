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0cfff95c07d4eca" /><Relationship Type="http://schemas.openxmlformats.org/officeDocument/2006/relationships/extended-properties" Target="/docProps/app.xml" Id="R19e7fe57d3654972" /><Relationship Type="http://schemas.openxmlformats.org/officeDocument/2006/relationships/officeDocument" Target="/ppt/presentation.xml" Id="R321fcba5007c480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b3f1bd4d002425c"/>
  </p:sldMasterIdLst>
  <p:sldIdLst>
    <p:sldId xmlns:r="http://schemas.openxmlformats.org/officeDocument/2006/relationships" id="256" r:id="R9053659164984cc6"/>
    <p:sldId xmlns:r="http://schemas.openxmlformats.org/officeDocument/2006/relationships" id="257" r:id="R5fdcec197b3e46ba"/>
    <p:sldId xmlns:r="http://schemas.openxmlformats.org/officeDocument/2006/relationships" id="258" r:id="Reb7a7b63833c44f1"/>
    <p:sldId xmlns:r="http://schemas.openxmlformats.org/officeDocument/2006/relationships" id="259" r:id="Rb88e15fe743d4768"/>
    <p:sldId xmlns:r="http://schemas.openxmlformats.org/officeDocument/2006/relationships" id="260" r:id="R56b0826167b64038"/>
    <p:sldId xmlns:r="http://schemas.openxmlformats.org/officeDocument/2006/relationships" id="261" r:id="R5a9ee72ff8dc4bd2"/>
    <p:sldId xmlns:r="http://schemas.openxmlformats.org/officeDocument/2006/relationships" id="262" r:id="Raa75dd1c299f4a24"/>
    <p:sldId xmlns:r="http://schemas.openxmlformats.org/officeDocument/2006/relationships" id="263" r:id="R3b46fb5fc20e43fe"/>
    <p:sldId xmlns:r="http://schemas.openxmlformats.org/officeDocument/2006/relationships" id="264" r:id="R5cb9e8057fd0489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c09fccce73e4e34" /><Relationship Type="http://schemas.openxmlformats.org/officeDocument/2006/relationships/slideMaster" Target="/ppt/slideMasters/slideMaster1.xml" Id="R8b3f1bd4d002425c" /><Relationship Type="http://schemas.openxmlformats.org/officeDocument/2006/relationships/presProps" Target="/ppt/presProps.xml" Id="Rf5d2b3b71766465f" /><Relationship Type="http://schemas.openxmlformats.org/officeDocument/2006/relationships/tableStyles" Target="/ppt/tableStyles.xml" Id="Rdad92329807c4058" /><Relationship Type="http://schemas.openxmlformats.org/officeDocument/2006/relationships/slide" Target="/ppt/slides/slide1.xml" Id="R9053659164984cc6" /><Relationship Type="http://schemas.openxmlformats.org/officeDocument/2006/relationships/slide" Target="/ppt/slides/slide2.xml" Id="R5fdcec197b3e46ba" /><Relationship Type="http://schemas.openxmlformats.org/officeDocument/2006/relationships/slide" Target="/ppt/slides/slide3.xml" Id="Reb7a7b63833c44f1" /><Relationship Type="http://schemas.openxmlformats.org/officeDocument/2006/relationships/slide" Target="/ppt/slides/slide4.xml" Id="Rb88e15fe743d4768" /><Relationship Type="http://schemas.openxmlformats.org/officeDocument/2006/relationships/slide" Target="/ppt/slides/slide5.xml" Id="R56b0826167b64038" /><Relationship Type="http://schemas.openxmlformats.org/officeDocument/2006/relationships/slide" Target="/ppt/slides/slide6.xml" Id="R5a9ee72ff8dc4bd2" /><Relationship Type="http://schemas.openxmlformats.org/officeDocument/2006/relationships/slide" Target="/ppt/slides/slide7.xml" Id="Raa75dd1c299f4a24" /><Relationship Type="http://schemas.openxmlformats.org/officeDocument/2006/relationships/slide" Target="/ppt/slides/slide8.xml" Id="R3b46fb5fc20e43fe" /><Relationship Type="http://schemas.openxmlformats.org/officeDocument/2006/relationships/slide" Target="/ppt/slides/slide9.xml" Id="R5cb9e8057fd04895" /></Relationship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85d4fe42c50482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398c5c08ac3441a" /><Relationship Type="http://schemas.openxmlformats.org/officeDocument/2006/relationships/slideLayout" Target="/ppt/slideLayouts/slideLayout1.xml" Id="Re5ebbdd153ba4c8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5ebbdd153ba4c8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24e789ca3b412e" /><Relationship Type="http://schemas.openxmlformats.org/officeDocument/2006/relationships/image" Target="/ppt/media/image.jpeg" Id="R08565a34671b475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3c638dfd8843e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c5e7e4d8ca46f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9e5bb06e0d445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633838438b425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abf50177264f25" /><Relationship Type="http://schemas.openxmlformats.org/officeDocument/2006/relationships/image" Target="/ppt/media/image2.jpeg" Id="Rcc4b48ed5f2b4a1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e2634e72bd41cd" /><Relationship Type="http://schemas.openxmlformats.org/officeDocument/2006/relationships/image" Target="/ppt/media/image3.jpeg" Id="R504c588eb8524bb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27c38ae8f74305" /><Relationship Type="http://schemas.openxmlformats.org/officeDocument/2006/relationships/image" Target="/ppt/media/image4.jpeg" Id="R97416adf0b34472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f47d79ab48497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C85FFA8-45E0-4AB1-A04B-47C71D772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1000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KavachIQ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C47F1C-BDDB-4D03-A6F5-EC64E6221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14400"/>
            <a:ext cx="16192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F7FD"/>
          </a:solidFill>
          <a:ln xmlns:a="http://schemas.openxmlformats.org/drawingml/2006/main" w="9525">
            <a:solidFill>
              <a:srgbClr val="A7E5FB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88EE8A-A7D7-41F7-BA06-EA225D084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981075"/>
            <a:ext cx="13906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088DD0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088DD0"/>
                </a:solidFill>
                <a:latin typeface="Helvetica Neue"/>
                <a:ea typeface="Helvetica Neue"/>
                <a:cs typeface="Helvetica Neue"/>
              </a:rPr>
              <a:t>PROSPECT DEMO DECK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7D0D87-A862-4549-8EFE-40496DC27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71625"/>
            <a:ext cx="5381625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4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4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The undo button for AI-agent incidents.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55E75D-011E-4A7B-A8C2-7521A3098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62350"/>
            <a:ext cx="5095875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525A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525A66"/>
                </a:solidFill>
                <a:latin typeface="Helvetica Neue"/>
                <a:ea typeface="Helvetica Neue"/>
                <a:cs typeface="Helvetica Neue"/>
              </a:rPr>
              <a:t>A prospect-safe walkthrough for security and Microsoft 365 leaders: how KavachIQ maps blast radius, proposes recovery, gates approval, executes reversal, and preserves evidence.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8565a34671b475c"/>
          <a:stretch xmlns:a="http://schemas.openxmlformats.org/drawingml/2006/main"/>
        </p:blipFill>
        <p:spPr>
          <a:xfrm xmlns:a="http://schemas.openxmlformats.org/drawingml/2006/main">
            <a:off x="6400800" y="1225318"/>
            <a:ext cx="5257800" cy="2445215"/>
          </a:xfrm>
          <a:prstGeom xmlns:a="http://schemas.openxmlformats.org/drawingml/2006/main" prst="roundRect">
            <a:avLst>
              <a:gd name="adj" fmla="val 3243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F2447F-A74D-4F6E-99CA-819DF6FD5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476750"/>
            <a:ext cx="5257800" cy="1009650"/>
          </a:xfrm>
          <a:prstGeom xmlns:a="http://schemas.openxmlformats.org/drawingml/2006/main" prst="roundRect">
            <a:avLst>
              <a:gd name="adj" fmla="val 11321"/>
            </a:avLst>
          </a:prstGeom>
          <a:solidFill xmlns:a="http://schemas.openxmlformats.org/drawingml/2006/main">
            <a:srgbClr val="07111F"/>
          </a:solidFill>
          <a:ln xmlns:a="http://schemas.openxmlformats.org/drawingml/2006/main" w="9525">
            <a:solidFill>
              <a:srgbClr val="16324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DD425E1-6932-45DD-B478-14E2FC690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686300"/>
            <a:ext cx="24574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Built first for Microsoft 365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C13AD08-998C-4DC7-8AD1-CDD81E87B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5000625"/>
            <a:ext cx="447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B7C5D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B7C5D6"/>
                </a:solidFill>
                <a:latin typeface="Helvetica Neue"/>
                <a:ea typeface="Helvetica Neue"/>
                <a:cs typeface="Helvetica Neue"/>
              </a:rPr>
              <a:t>Recovery after the agent changes identity, sharing, permissions, Conditional Access, DLP, or data state.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40EB06D-ECB0-41F1-A5AC-F9CEFC7DA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2460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7A849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7A8492"/>
                </a:solidFill>
                <a:latin typeface="Helvetica Neue"/>
                <a:ea typeface="Helvetica Neue"/>
                <a:cs typeface="Helvetica Neue"/>
              </a:rPr>
              <a:t>KavachIQ Agentic Incident Recovery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6CA7C45-A9A8-4EF8-A3B9-07173E080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2460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7A849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7A8492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205657198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383BD76-F48E-4AD8-AA3F-5B1D0FB43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8572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AI agents now change enterprise state, not just text.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D0FA80-3D43-40E3-88F1-CDC0D99B2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81100"/>
            <a:ext cx="8096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25A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25A66"/>
                </a:solidFill>
                <a:latin typeface="Helvetica Neue"/>
                <a:ea typeface="Helvetica Neue"/>
                <a:cs typeface="Helvetica Neue"/>
              </a:rPr>
              <a:t>The risk is operational: identity, access, collaboration, and policy changes can cascade faster than a manual runbook.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F9FE4F-8710-4912-962E-529C25190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95500"/>
            <a:ext cx="4191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When an agent acts wrong, the question is no longer only why it acted. The operational question is what changed, what depends on it, and what must be reversed first.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387528-AC9E-4FF2-BABE-6089A9DC6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9575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The buyer pain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B2D62E-A41C-42F0-9D60-CE52572C9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19600"/>
            <a:ext cx="4000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25A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25A66"/>
                </a:solidFill>
                <a:latin typeface="Helvetica Neue"/>
                <a:ea typeface="Helvetica Neue"/>
                <a:cs typeface="Helvetica Neue"/>
              </a:rPr>
              <a:t>A 2:47 a.m. alert becomes a multi-team Microsoft 365 recovery problem: identity, collaboration, policy, evidence, and executive reporting.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95D7DE-7D5B-4489-AC35-811C79259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1943100"/>
            <a:ext cx="6324600" cy="457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1F3F5"/>
          </a:solidFill>
          <a:ln xmlns:a="http://schemas.openxmlformats.org/drawingml/2006/main" w="9525">
            <a:solidFill>
              <a:srgbClr val="D7DCE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416D37-C56C-4AF1-B172-86C09347D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066925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Entra ID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271580-8FBB-4B2A-B072-72D2D3308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076450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25A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25A66"/>
                </a:solidFill>
                <a:latin typeface="Helvetica Neue"/>
                <a:ea typeface="Helvetica Neue"/>
                <a:cs typeface="Helvetica Neue"/>
              </a:rPr>
              <a:t>Users, groups, roles, apps, service principals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908C761-73DC-4362-B631-35FE378D2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552700"/>
            <a:ext cx="6324600" cy="457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CE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4B4D707-5932-44C1-A7CB-46E5CA95D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676525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SharePoint and OneDrive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739FB09-0461-43FA-A29D-7D30524B2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686050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25A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25A66"/>
                </a:solidFill>
                <a:latin typeface="Helvetica Neue"/>
                <a:ea typeface="Helvetica Neue"/>
                <a:cs typeface="Helvetica Neue"/>
              </a:rPr>
              <a:t>Sharing links, site permissions, item access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5F711F1-A41C-4774-AF8E-A8B61AAF6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162300"/>
            <a:ext cx="6324600" cy="457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1F3F5"/>
          </a:solidFill>
          <a:ln xmlns:a="http://schemas.openxmlformats.org/drawingml/2006/main" w="9525">
            <a:solidFill>
              <a:srgbClr val="D7DCE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F5250A9-670C-4C3F-9B7E-69DCAEF19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286125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Exchange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CF7B55A-C371-4619-9906-C655D5705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3295650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25A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25A66"/>
                </a:solidFill>
                <a:latin typeface="Helvetica Neue"/>
                <a:ea typeface="Helvetica Neue"/>
                <a:cs typeface="Helvetica Neue"/>
              </a:rPr>
              <a:t>Mailbox delegation, send-as, rules, transport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123F09D-F1A4-47E9-B207-9DD46BA76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771900"/>
            <a:ext cx="6324600" cy="457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CE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ED60F05-7697-4DD6-82A2-A885C7C2D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895725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Teams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C95C92C-DB40-4F12-B804-F55A275E5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3905250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25A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25A66"/>
                </a:solidFill>
                <a:latin typeface="Helvetica Neue"/>
                <a:ea typeface="Helvetica Neue"/>
                <a:cs typeface="Helvetica Neue"/>
              </a:rPr>
              <a:t>Team membership, channels, guest access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BFE0D0E-7299-47DA-9731-E4C70F9E6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381500"/>
            <a:ext cx="6324600" cy="457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1F3F5"/>
          </a:solidFill>
          <a:ln xmlns:a="http://schemas.openxmlformats.org/drawingml/2006/main" w="9525">
            <a:solidFill>
              <a:srgbClr val="D7DCE2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D985E33-8FF6-4C70-BCB5-7ED577C07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505325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Conditional Access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5D24F65-74E4-434E-BF64-62D8425CD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4514850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25A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25A66"/>
                </a:solidFill>
                <a:latin typeface="Helvetica Neue"/>
                <a:ea typeface="Helvetica Neue"/>
                <a:cs typeface="Helvetica Neue"/>
              </a:rPr>
              <a:t>Policy scope, exemptions, sign-in risk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5E724A7-101F-4171-AFFE-6E16A6DBA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991100"/>
            <a:ext cx="6324600" cy="457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CE2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14ACDBC-D8E7-4467-84C7-2F7B284E1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5114925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Purview and DLP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B1B7D95-BEB7-4CAB-BFD1-CF294119E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5124450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25A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25A66"/>
                </a:solidFill>
                <a:latin typeface="Helvetica Neue"/>
                <a:ea typeface="Helvetica Neue"/>
                <a:cs typeface="Helvetica Neue"/>
              </a:rPr>
              <a:t>Labels, restrictions, sensitive data controls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8388AFA-DF54-402F-A3D0-D398D58F6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2460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7A849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7A8492"/>
                </a:solidFill>
                <a:latin typeface="Helvetica Neue"/>
                <a:ea typeface="Helvetica Neue"/>
                <a:cs typeface="Helvetica Neue"/>
              </a:rPr>
              <a:t>KavachIQ Agentic Incident Recovery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15011D0-6CF2-4CCB-BD6B-FA92B9333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2460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7A849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7A8492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12392278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D6C67B4-7E4B-403A-9704-1AAA269D3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8572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The current stack alerts and restores. It does not surgically undo.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A822B8-0C1E-4265-A0B8-5F9EA9714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81100"/>
            <a:ext cx="8096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25A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25A66"/>
                </a:solidFill>
                <a:latin typeface="Helvetica Neue"/>
                <a:ea typeface="Helvetica Neue"/>
                <a:cs typeface="Helvetica Neue"/>
              </a:rPr>
              <a:t>KavachIQ runs downstream of detection and alongside backup, focused on the agent's specific actions.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A6263E-8221-4A11-A4D6-8B44770F6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81200"/>
            <a:ext cx="1524000" cy="4572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07111F"/>
          </a:solidFill>
          <a:ln xmlns:a="http://schemas.openxmlformats.org/drawingml/2006/main" w="9525">
            <a:solidFill>
              <a:srgbClr val="07111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9D827A-EC6A-401B-A47E-14B2AD381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24075"/>
            <a:ext cx="1257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Layer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FA6D14-B4AD-4621-901C-C067B8351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1981200"/>
            <a:ext cx="2933700" cy="4572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07111F"/>
          </a:solidFill>
          <a:ln xmlns:a="http://schemas.openxmlformats.org/drawingml/2006/main" w="9525">
            <a:solidFill>
              <a:srgbClr val="07111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826A75-8CCA-4322-8AD1-AA2C77D56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124075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Examples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734BDE-CF5B-4E96-92EA-E05802E76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1981200"/>
            <a:ext cx="2952750" cy="4572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07111F"/>
          </a:solidFill>
          <a:ln xmlns:a="http://schemas.openxmlformats.org/drawingml/2006/main" w="9525">
            <a:solidFill>
              <a:srgbClr val="07111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56D12A-1453-4CCE-9674-CE03E60D0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124075"/>
            <a:ext cx="2686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What it does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470D7EF-1594-4C10-A9D7-D6821431D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1981200"/>
            <a:ext cx="2952750" cy="4572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07111F"/>
          </a:solidFill>
          <a:ln xmlns:a="http://schemas.openxmlformats.org/drawingml/2006/main" w="9525">
            <a:solidFill>
              <a:srgbClr val="07111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A8A967B-4FD5-459E-8196-FA9563B83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124075"/>
            <a:ext cx="2686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Where it stops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390C9CD-C3B9-412A-9CCF-01A25F36E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38400"/>
            <a:ext cx="1524000" cy="8001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1F3F5"/>
          </a:solidFill>
          <a:ln xmlns:a="http://schemas.openxmlformats.org/drawingml/2006/main" w="9525">
            <a:solidFill>
              <a:srgbClr val="CFD5D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F11C63F-7ECB-4731-BEDB-F27E615BF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09850"/>
            <a:ext cx="12573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Detection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39BFB29-DD70-4831-941B-5FCDF1CA0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2438400"/>
            <a:ext cx="2933700" cy="8001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1F3F5"/>
          </a:solidFill>
          <a:ln xmlns:a="http://schemas.openxmlformats.org/drawingml/2006/main" w="9525">
            <a:solidFill>
              <a:srgbClr val="CFD5D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F76DFB8-93E5-411A-8AC3-6C7CDCCBE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609850"/>
            <a:ext cx="2667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Purview, Defender, Sentinel, SIEM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394C6F7-5BC4-42D0-B161-107185701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438400"/>
            <a:ext cx="2952750" cy="8001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1F3F5"/>
          </a:solidFill>
          <a:ln xmlns:a="http://schemas.openxmlformats.org/drawingml/2006/main" w="9525">
            <a:solidFill>
              <a:srgbClr val="CFD5D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AB6864C-A9FD-4CB4-8C8E-5C951FBE1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609850"/>
            <a:ext cx="2686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Tells you something happened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C3D9AB4-EA0E-4EAC-B8A4-62E389845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438400"/>
            <a:ext cx="2952750" cy="8001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1F3F5"/>
          </a:solidFill>
          <a:ln xmlns:a="http://schemas.openxmlformats.org/drawingml/2006/main" w="9525">
            <a:solidFill>
              <a:srgbClr val="CFD5D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013D400-C013-4F1B-B1B1-56F3D4755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609850"/>
            <a:ext cx="2686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A53C4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A53C4E"/>
                </a:solidFill>
                <a:latin typeface="Helvetica Neue"/>
                <a:ea typeface="Helvetica Neue"/>
                <a:cs typeface="Helvetica Neue"/>
              </a:rPr>
              <a:t>Does not reverse the change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2007C7A-B07B-41A8-B597-5C5DE1F13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0"/>
            <a:ext cx="1524000" cy="8001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5DC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4325DB8-F449-43E4-92E4-2965D57D8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09950"/>
            <a:ext cx="12573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Backup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F4FB6EC-B02B-419F-A07A-3C898CCF8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3238500"/>
            <a:ext cx="2933700" cy="8001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5DC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7B23E80-D723-4896-9E3B-253592E2B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409950"/>
            <a:ext cx="2667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M365 Backup, Rubrik, Cohesity, Veeam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CA9A240-86DD-443D-A532-144052C1C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3238500"/>
            <a:ext cx="2952750" cy="8001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5DC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E9C31DE-8EA6-4006-80C4-0C936E077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3409950"/>
            <a:ext cx="2686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Restores data to a point in time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F83E61E-D751-485D-92BF-3375CAF65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238500"/>
            <a:ext cx="2952750" cy="8001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5DC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1B02AFF-2078-4A07-93CF-62E3E6B88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409950"/>
            <a:ext cx="2686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A53C4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A53C4E"/>
                </a:solidFill>
                <a:latin typeface="Helvetica Neue"/>
                <a:ea typeface="Helvetica Neue"/>
                <a:cs typeface="Helvetica Neue"/>
              </a:rPr>
              <a:t>Loses legitimate work and misses identity/policy actions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3C272F7-21D0-47FE-8328-5D1455B75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38600"/>
            <a:ext cx="1524000" cy="8001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1F3F5"/>
          </a:solidFill>
          <a:ln xmlns:a="http://schemas.openxmlformats.org/drawingml/2006/main" w="9525">
            <a:solidFill>
              <a:srgbClr val="CFD5DC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CCD3887-AB35-480C-897C-DB4F2D653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10050"/>
            <a:ext cx="12573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Governance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CE6F319-C417-4264-86DB-97C145B7C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4038600"/>
            <a:ext cx="2933700" cy="8001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1F3F5"/>
          </a:solidFill>
          <a:ln xmlns:a="http://schemas.openxmlformats.org/drawingml/2006/main" w="9525">
            <a:solidFill>
              <a:srgbClr val="CFD5DC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C39DF75-964B-4B54-85C8-59F9FDA46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210050"/>
            <a:ext cx="2667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Policies, access reviews, guardrails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EAF4E91-DF23-4B16-B4D8-E6028AC6A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4038600"/>
            <a:ext cx="2952750" cy="8001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1F3F5"/>
          </a:solidFill>
          <a:ln xmlns:a="http://schemas.openxmlformats.org/drawingml/2006/main" w="9525">
            <a:solidFill>
              <a:srgbClr val="CFD5DC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85F6E9C-A4B9-46EE-B47B-45C138D10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4210050"/>
            <a:ext cx="2686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Sets rules before the fact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3DD119F-55D6-490C-9631-869855387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4038600"/>
            <a:ext cx="2952750" cy="8001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1F3F5"/>
          </a:solidFill>
          <a:ln xmlns:a="http://schemas.openxmlformats.org/drawingml/2006/main" w="9525">
            <a:solidFill>
              <a:srgbClr val="CFD5DC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345058C-19B8-4E3B-828D-2B0B2874D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210050"/>
            <a:ext cx="2686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A53C4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A53C4E"/>
                </a:solidFill>
                <a:latin typeface="Helvetica Neue"/>
                <a:ea typeface="Helvetica Neue"/>
                <a:cs typeface="Helvetica Neue"/>
              </a:rPr>
              <a:t>Cannot unwind a high-impact change once it lands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5A2814F-26A1-4070-8286-D61760CF8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24450"/>
            <a:ext cx="111252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AF7FC"/>
          </a:solidFill>
          <a:ln xmlns:a="http://schemas.openxmlformats.org/drawingml/2006/main" w="9525">
            <a:solidFill>
              <a:srgbClr val="9ADFF8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97395A8-F1AE-45CD-B6F8-E9550C6F7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33400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088DD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88DD0"/>
                </a:solidFill>
                <a:latin typeface="Helvetica Neue"/>
                <a:ea typeface="Helvetica Neue"/>
                <a:cs typeface="Helvetica Neue"/>
              </a:rPr>
              <a:t>KavachIQ closes the gap: alert -&gt; blast radius -&gt; approved reversal -&gt; validation -&gt; evidence.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23EEF82-6F78-41E8-B486-25BC32EDE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2460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7A849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7A8492"/>
                </a:solidFill>
                <a:latin typeface="Helvetica Neue"/>
                <a:ea typeface="Helvetica Neue"/>
                <a:cs typeface="Helvetica Neue"/>
              </a:rPr>
              <a:t>KavachIQ Agentic Incident Recovery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029F9A6-D7FF-4101-8EC1-6B4273BC4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2460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7A849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7A8492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6761663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23A510C-A595-4FFE-A4F3-3E95FA964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8572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The demo follows one controlled Microsoft 365 incident.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A05CCF-EFFB-48C0-BFDA-805F7D915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81100"/>
            <a:ext cx="8096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25A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25A66"/>
                </a:solidFill>
                <a:latin typeface="Helvetica Neue"/>
                <a:ea typeface="Helvetica Neue"/>
                <a:cs typeface="Helvetica Neue"/>
              </a:rPr>
              <a:t>A known service-principal agent expands privileged finance access. KavachIQ turns the raw change burst into a recovery case.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9AC087-C9BF-46B9-9779-83A8D0887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81200"/>
            <a:ext cx="4343400" cy="28575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07111F"/>
          </a:solidFill>
          <a:ln xmlns:a="http://schemas.openxmlformats.org/drawingml/2006/main" w="9525">
            <a:solidFill>
              <a:srgbClr val="1A324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70FFA3-1409-4BAF-8855-EE76264B2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28850"/>
            <a:ext cx="12763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02C3E"/>
          </a:solidFill>
          <a:ln xmlns:a="http://schemas.openxmlformats.org/drawingml/2006/main" w="9525">
            <a:solidFill>
              <a:srgbClr val="1B5676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BDB42A-7CFA-407B-B2C7-2D7A3AD23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95525"/>
            <a:ext cx="1047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22BDF6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22BDF6"/>
                </a:solidFill>
                <a:latin typeface="Helvetica Neue"/>
                <a:ea typeface="Helvetica Neue"/>
                <a:cs typeface="Helvetica Neue"/>
              </a:rPr>
              <a:t>DEMO SCENARIO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AB5C20-D650-4BAD-8AC0-B5CB4D36B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47950"/>
            <a:ext cx="3714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2422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Privileged group membership expansion by agent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58F7FB5-F727-4787-8346-E1B1EDE54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62350"/>
            <a:ext cx="36957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C8D2D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C8D2DE"/>
                </a:solidFill>
                <a:latin typeface="Helvetica Neue"/>
                <a:ea typeface="Helvetica Neue"/>
                <a:cs typeface="Helvetica Neue"/>
              </a:rPr>
              <a:t>Access Lifecycle Agent adds 12 users to Finance-Privileged-Access inside a short operation window.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56A3B2A-1FD8-4EB0-875E-D4E2A320A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00550"/>
            <a:ext cx="3619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8DA0B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8DA0B5"/>
                </a:solidFill>
                <a:latin typeface="Helvetica Neue"/>
                <a:ea typeface="Helvetica Neue"/>
                <a:cs typeface="Helvetica Neue"/>
              </a:rPr>
              <a:t>Representative demo tenant. No customer content.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C3A7052-72A3-482E-9BE5-CE76D8211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095500"/>
            <a:ext cx="180975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1F3F5"/>
          </a:solidFill>
          <a:ln xmlns:a="http://schemas.openxmlformats.org/drawingml/2006/main" w="9525">
            <a:solidFill>
              <a:srgbClr val="D5DAE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5148DE5-AE0C-451D-87B3-C9AC338D2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2247900"/>
            <a:ext cx="1466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4A63DAF-B05E-47D2-BA55-4D3F6A2A9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2628900"/>
            <a:ext cx="1466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525A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525A66"/>
                </a:solidFill>
                <a:latin typeface="Helvetica Neue"/>
                <a:ea typeface="Helvetica Neue"/>
                <a:cs typeface="Helvetica Neue"/>
              </a:rPr>
              <a:t>root changes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4245FFF-1EC9-4877-9288-6629D7E58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095500"/>
            <a:ext cx="180975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4F6"/>
          </a:solidFill>
          <a:ln xmlns:a="http://schemas.openxmlformats.org/drawingml/2006/main" w="9525">
            <a:solidFill>
              <a:srgbClr val="F3B3B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7C16082-B789-4246-AAE2-9076CE456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247900"/>
            <a:ext cx="1466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A53C4E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A53C4E"/>
                </a:solidFill>
                <a:latin typeface="Helvetica Neue"/>
                <a:ea typeface="Helvetica Neue"/>
                <a:cs typeface="Helvetica Neue"/>
              </a:rPr>
              <a:t>High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7D2198B-E4F8-4253-B2D2-64442F934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628900"/>
            <a:ext cx="1466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525A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525A66"/>
                </a:solidFill>
                <a:latin typeface="Helvetica Neue"/>
                <a:ea typeface="Helvetica Neue"/>
                <a:cs typeface="Helvetica Neue"/>
              </a:rPr>
              <a:t>incident severity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1E2BA2B-2651-4D14-82FC-339129790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2095500"/>
            <a:ext cx="180975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1F3F5"/>
          </a:solidFill>
          <a:ln xmlns:a="http://schemas.openxmlformats.org/drawingml/2006/main" w="9525">
            <a:solidFill>
              <a:srgbClr val="D5DAE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2152D23-8C35-4BA9-A102-E108156C0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2247900"/>
            <a:ext cx="1466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AD1A542-F40A-46D2-828D-530071558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2628900"/>
            <a:ext cx="1466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525A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525A66"/>
                </a:solidFill>
                <a:latin typeface="Helvetica Neue"/>
                <a:ea typeface="Helvetica Neue"/>
                <a:cs typeface="Helvetica Neue"/>
              </a:rPr>
              <a:t>agent session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844A898-51F8-4CF6-ADD7-C8BCE466D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4076700"/>
            <a:ext cx="5334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8D00CB6-99D7-4489-A0E7-CCB50350D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9909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AAAAED0-C8F7-4239-A9C8-702C994C2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436245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Capture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19CDA58-CD9D-4C7E-9204-E5CCA16C9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4629150"/>
            <a:ext cx="12573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525A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25A66"/>
                </a:solidFill>
                <a:latin typeface="Helvetica Neue"/>
                <a:ea typeface="Helvetica Neue"/>
                <a:cs typeface="Helvetica Neue"/>
              </a:rPr>
              <a:t>Raw audit events from the agent action window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4B9015F-7296-41C8-8685-85FDBCC44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9909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129DA0F-E0B6-4B23-A012-2A0858C51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36245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Correlate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635246A-7E34-46E0-8F00-A55DBCAF0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629150"/>
            <a:ext cx="12573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525A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25A66"/>
                </a:solidFill>
                <a:latin typeface="Helvetica Neue"/>
                <a:ea typeface="Helvetica Neue"/>
                <a:cs typeface="Helvetica Neue"/>
              </a:rPr>
              <a:t>Changes grouped by actor, target, time, and sensitivity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12156D0-694A-43E8-9239-09BFDEE8B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9909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E09E7E5-02A9-46BE-827E-20A466267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36245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Classify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4717716-6BA6-40AB-B517-AB7C81D7A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629150"/>
            <a:ext cx="12573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525A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25A66"/>
                </a:solidFill>
                <a:latin typeface="Helvetica Neue"/>
                <a:ea typeface="Helvetica Neue"/>
                <a:cs typeface="Helvetica Neue"/>
              </a:rPr>
              <a:t>High-sensitivity group plus bulk membership change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D702AC7-87FA-431D-8ED9-30919FD5F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39909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BDF6"/>
          </a:solidFill>
          <a:ln xmlns:a="http://schemas.openxmlformats.org/drawingml/2006/main" w="9525">
            <a:solidFill>
              <a:srgbClr val="22BDF6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FD763FA-A825-4144-9C7E-90342B86A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36245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Open case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8BEB169-7D8B-4974-A7DE-D7A693FEF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629150"/>
            <a:ext cx="12573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525A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25A66"/>
                </a:solidFill>
                <a:latin typeface="Helvetica Neue"/>
                <a:ea typeface="Helvetica Neue"/>
                <a:cs typeface="Helvetica Neue"/>
              </a:rPr>
              <a:t>Recovery plan generated for operator review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10F700F-03D6-477C-B174-15EF0DF23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2460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7A849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7A8492"/>
                </a:solidFill>
                <a:latin typeface="Helvetica Neue"/>
                <a:ea typeface="Helvetica Neue"/>
                <a:cs typeface="Helvetica Neue"/>
              </a:rPr>
              <a:t>KavachIQ Agentic Incident Recovery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E4B21A0-4F29-4762-BE41-FD68237AE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2460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7A849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7A8492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6366426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2B9C7AF-AF11-49C0-BAA1-4886E0855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8572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The product workflow is the pitch.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70009B-5BE2-469A-BC38-C794219AD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81100"/>
            <a:ext cx="8096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25A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25A66"/>
                </a:solidFill>
                <a:latin typeface="Helvetica Neue"/>
                <a:ea typeface="Helvetica Neue"/>
                <a:cs typeface="Helvetica Neue"/>
              </a:rPr>
              <a:t>Keep the buyer anchored on what they can see and approve, not on backend architecture.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D54FF7-E807-4D99-A5D0-A430A47AE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067050"/>
            <a:ext cx="10096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DEB6C8-11D1-4C29-8D86-6F2F5992C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67000"/>
            <a:ext cx="819150" cy="819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111F"/>
          </a:solidFill>
          <a:ln xmlns:a="http://schemas.openxmlformats.org/drawingml/2006/main" w="9525">
            <a:solidFill>
              <a:srgbClr val="07111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695592-BE01-4384-AADD-6D35BD431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86075"/>
            <a:ext cx="819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030633-4A5D-483D-B4B2-5327910D2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77190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Alert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45441D-0BC4-4139-8542-CCEAD55EC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4133850"/>
            <a:ext cx="1866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525A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25A66"/>
                </a:solidFill>
                <a:latin typeface="Helvetica Neue"/>
                <a:ea typeface="Helvetica Neue"/>
                <a:cs typeface="Helvetica Neue"/>
              </a:rPr>
              <a:t>Incident signal from Sentinel, Purview, Defender, or SIEM/SOAR.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6C7419-25EB-4A77-A912-3DF021CD4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667000"/>
            <a:ext cx="819150" cy="819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1FBD21E-6D53-4D9D-9842-102E6E222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886075"/>
            <a:ext cx="819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28058EB-3800-4B99-87E9-75749FBB4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77190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Blast radius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AD2C9F9-21F8-4652-B561-9AEE654DB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4133850"/>
            <a:ext cx="1866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525A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25A66"/>
                </a:solidFill>
                <a:latin typeface="Helvetica Neue"/>
                <a:ea typeface="Helvetica Neue"/>
                <a:cs typeface="Helvetica Neue"/>
              </a:rPr>
              <a:t>Agent changes attributed and mapped across M365 surfaces.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170D5F3-3C8F-4E7C-96AB-233F8F3A9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667000"/>
            <a:ext cx="819150" cy="819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1D51274-DB86-4961-AB9B-69C1A6E1C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886075"/>
            <a:ext cx="819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67506B0-A0B1-4263-A094-88F340DEA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77190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Plan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E5AB43B-C286-4282-AAD8-A76693175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4133850"/>
            <a:ext cx="1866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525A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25A66"/>
                </a:solidFill>
                <a:latin typeface="Helvetica Neue"/>
                <a:ea typeface="Helvetica Neue"/>
                <a:cs typeface="Helvetica Neue"/>
              </a:rPr>
              <a:t>Reversal ordered by dependency: identity, access, sharing, policy, data.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418EB3A-3470-490A-BE39-586E4A9AA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667000"/>
            <a:ext cx="819150" cy="819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01160E6-F6E4-4583-BBAF-D03B9D078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886075"/>
            <a:ext cx="819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D77F403-1574-4E16-A2D6-91BC82C35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77190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Approval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175C34D-451A-425A-85D7-62A941987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4675" y="4133850"/>
            <a:ext cx="1866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525A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25A66"/>
                </a:solidFill>
                <a:latin typeface="Helvetica Neue"/>
                <a:ea typeface="Helvetica Neue"/>
                <a:cs typeface="Helvetica Neue"/>
              </a:rPr>
              <a:t>No automated rollback. Operator reviews the plan before execution.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92428EC-77B8-4154-B359-BFE4999A9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667000"/>
            <a:ext cx="819150" cy="819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F8F1"/>
          </a:solidFill>
          <a:ln xmlns:a="http://schemas.openxmlformats.org/drawingml/2006/main" w="9525">
            <a:solidFill>
              <a:srgbClr val="8FDAB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1D1BF6B-9CA5-464F-AFBA-0AFF7F602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886075"/>
            <a:ext cx="819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0C8F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0C8F63"/>
                </a:solidFill>
                <a:latin typeface="Helvetica Neue"/>
                <a:ea typeface="Helvetica Neue"/>
                <a:cs typeface="Helvetica Neue"/>
              </a:rPr>
              <a:t>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F0F3D52-E2AA-4848-BA4F-EC09D5E0A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77190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Validation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90C8890-2D6C-44EB-9887-7286D793D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5425" y="4133850"/>
            <a:ext cx="1866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525A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25A66"/>
                </a:solidFill>
                <a:latin typeface="Helvetica Neue"/>
                <a:ea typeface="Helvetica Neue"/>
                <a:cs typeface="Helvetica Neue"/>
              </a:rPr>
              <a:t>Expected state confirmed and evidence preserved.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8A24083-20F0-42A0-BB94-6BA87A2C2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334000"/>
            <a:ext cx="7772400" cy="4191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1F3F5"/>
          </a:solidFill>
          <a:ln xmlns:a="http://schemas.openxmlformats.org/drawingml/2006/main" w="9525">
            <a:solidFill>
              <a:srgbClr val="D4DAE2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83AA4B9-89DF-477A-953D-5CF48A7E5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5467350"/>
            <a:ext cx="7277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The demo should make a buyer say: this is not monitoring; this is the recovery operating model.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07086AB-424B-440E-90B1-FEBE41628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2460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7A849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7A8492"/>
                </a:solidFill>
                <a:latin typeface="Helvetica Neue"/>
                <a:ea typeface="Helvetica Neue"/>
                <a:cs typeface="Helvetica Neue"/>
              </a:rPr>
              <a:t>KavachIQ Agentic Incident Recovery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6D48902-CC21-46D6-8455-FCBA0636B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2460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7A849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7A8492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31303950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35F8F6F-B4E8-441E-BCED-5D4B9DAC5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8572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Blast radius turns a change burst into a recovery map.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B3FE10-4D01-4684-9428-3977182F4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81100"/>
            <a:ext cx="8096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25A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25A66"/>
                </a:solidFill>
                <a:latin typeface="Helvetica Neue"/>
                <a:ea typeface="Helvetica Neue"/>
                <a:cs typeface="Helvetica Neue"/>
              </a:rPr>
              <a:t>Before recovery begins, the operator sees what depends on the agent's action.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50A26B-BEF2-4530-AE1E-76CC318B0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114550"/>
            <a:ext cx="3448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What the buyer sees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84B85B-0729-42CB-8523-7AFC3A4FE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38400"/>
            <a:ext cx="3448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25A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25A66"/>
                </a:solidFill>
                <a:latin typeface="Helvetica Neue"/>
                <a:ea typeface="Helvetica Neue"/>
                <a:cs typeface="Helvetica Neue"/>
              </a:rPr>
              <a:t>Affected identities and downstream Microsoft 365 surfaces grouped into a readable recovery map.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1FD417-D660-4990-8052-F6C5FBA25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333750"/>
            <a:ext cx="3448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Why it matters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7E4B25-1E40-41E7-B65D-D0E328693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57600"/>
            <a:ext cx="34480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25A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25A66"/>
                </a:solidFill>
                <a:latin typeface="Helvetica Neue"/>
                <a:ea typeface="Helvetica Neue"/>
                <a:cs typeface="Helvetica Neue"/>
              </a:rPr>
              <a:t>Identity changes can inherit into SharePoint, Exchange, Teams, applications, and Conditional Access. Recovery order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5F9BA5-2F65-49EA-9307-F9765939D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686300"/>
            <a:ext cx="3448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Prospect-safe proof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97525FB-04EF-4CF2-B9C6-433720A9C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010150"/>
            <a:ext cx="34480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25A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25A66"/>
                </a:solidFill>
                <a:latin typeface="Helvetica Neue"/>
                <a:ea typeface="Helvetica Neue"/>
                <a:cs typeface="Helvetica Neue"/>
              </a:rPr>
              <a:t>Screenshot is from a controlled demo environment, not customer data.</a:t>
            </a:r>
          </a:p>
        </p:txBody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c4b48ed5f2b4a1e"/>
          <a:srcRect xmlns:a="http://schemas.openxmlformats.org/drawingml/2006/main" l="8258" t="0" r="825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648200" y="1885950"/>
            <a:ext cx="7010400" cy="3905250"/>
          </a:xfrm>
          <a:prstGeom xmlns:a="http://schemas.openxmlformats.org/drawingml/2006/main" prst="roundRect">
            <a:avLst>
              <a:gd name="adj" fmla="val 2927"/>
            </a:avLst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B119C29-7DE4-4529-9E0F-0B1F73BF7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2460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7A849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7A8492"/>
                </a:solidFill>
                <a:latin typeface="Helvetica Neue"/>
                <a:ea typeface="Helvetica Neue"/>
                <a:cs typeface="Helvetica Neue"/>
              </a:rPr>
              <a:t>KavachIQ Agentic Incident Recovery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0299D3E-0117-4EA2-A616-292F493AA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2460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7A849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7A8492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37446315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8896016-5561-4A7C-86E8-E76E97E1A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8572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Recovery is approval-gated and dependency-ordered.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B294B2-66EE-4EC4-A2DE-520D1E698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81100"/>
            <a:ext cx="8096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25A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25A66"/>
                </a:solidFill>
                <a:latin typeface="Helvetica Neue"/>
                <a:ea typeface="Helvetica Neue"/>
                <a:cs typeface="Helvetica Neue"/>
              </a:rPr>
              <a:t>KavachIQ proposes the reversal sequence; the operator remains in control before any change runs.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04c588eb8524bbf"/>
          <a:srcRect xmlns:a="http://schemas.openxmlformats.org/drawingml/2006/main" l="9732" t="0" r="973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3400" y="1809750"/>
            <a:ext cx="6762750" cy="3905250"/>
          </a:xfrm>
          <a:prstGeom xmlns:a="http://schemas.openxmlformats.org/drawingml/2006/main" prst="roundRect">
            <a:avLst>
              <a:gd name="adj" fmla="val 2927"/>
            </a:avLst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6EBAF7-E74E-40F8-813A-B3863F0B5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000250"/>
            <a:ext cx="3429000" cy="1085850"/>
          </a:xfrm>
          <a:prstGeom xmlns:a="http://schemas.openxmlformats.org/drawingml/2006/main" prst="roundRect">
            <a:avLst>
              <a:gd name="adj" fmla="val 7018"/>
            </a:avLst>
          </a:prstGeom>
          <a:solidFill xmlns:a="http://schemas.openxmlformats.org/drawingml/2006/main">
            <a:srgbClr val="07111F"/>
          </a:solidFill>
          <a:ln xmlns:a="http://schemas.openxmlformats.org/drawingml/2006/main" w="9525">
            <a:solidFill>
              <a:srgbClr val="19304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8242CB-FAA9-49AE-BECC-184AAFF24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209800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Identity first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6A5EE8-47BF-4270-B6AE-68AC2F037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543175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B9C7D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B9C7D8"/>
                </a:solidFill>
                <a:latin typeface="Helvetica Neue"/>
                <a:ea typeface="Helvetica Neue"/>
                <a:cs typeface="Helvetica Neue"/>
              </a:rPr>
              <a:t>Undo group membership first so downstream access is not re-inherited.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10AED8-E364-4F6D-96FD-6F11FD3DB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429000"/>
            <a:ext cx="3143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Operator approval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EDCD522-C008-4504-AE9F-256A743E0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752850"/>
            <a:ext cx="3143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25A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25A66"/>
                </a:solidFill>
                <a:latin typeface="Helvetica Neue"/>
                <a:ea typeface="Helvetica Neue"/>
                <a:cs typeface="Helvetica Neue"/>
              </a:rPr>
              <a:t>Every recovery step is proposed for human review. The platform does not silently roll back the tenant.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A014C0F-1A5F-4CDB-8616-4DB763A5B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724400"/>
            <a:ext cx="3143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Execution boundary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6ABA7E3-710F-4FFA-84C0-8B8F49E2E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5048250"/>
            <a:ext cx="3143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25A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25A66"/>
                </a:solidFill>
                <a:latin typeface="Helvetica Neue"/>
                <a:ea typeface="Helvetica Neue"/>
                <a:cs typeface="Helvetica Neue"/>
              </a:rPr>
              <a:t>Some actions execute directly; others can remain recommendation-only depending on policy and phase.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09980B3-C1AB-47B4-B686-FA2B1D69B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2460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7A849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7A8492"/>
                </a:solidFill>
                <a:latin typeface="Helvetica Neue"/>
                <a:ea typeface="Helvetica Neue"/>
                <a:cs typeface="Helvetica Neue"/>
              </a:rPr>
              <a:t>KavachIQ Agentic Incident Recovery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85CA321-988E-4CC8-87EA-6595A76ED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2460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7A849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7A8492"/>
                </a:solidFill>
                <a:latin typeface="Helvetica Neue"/>
                <a:ea typeface="Helvetica Neue"/>
                <a:cs typeface="Helvetica Neue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37464566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DCF2173-B167-41BE-A631-64D819530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8572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The close is evidence, not a green check mark.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D0726A-F2EA-4ED5-AB7A-08EF897A0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81100"/>
            <a:ext cx="8096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25A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25A66"/>
                </a:solidFill>
                <a:latin typeface="Helvetica Neue"/>
                <a:ea typeface="Helvetica Neue"/>
                <a:cs typeface="Helvetica Neue"/>
              </a:rPr>
              <a:t>The buyer needs an auditable record of what changed, what was approved, what executed, and what was validated.</a:t>
            </a:r>
          </a:p>
        </p:txBody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7416adf0b344722"/>
          <a:srcRect xmlns:a="http://schemas.openxmlformats.org/drawingml/2006/main" l="9098" t="0" r="909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3400" y="1847850"/>
            <a:ext cx="6534150" cy="3714750"/>
          </a:xfrm>
          <a:prstGeom xmlns:a="http://schemas.openxmlformats.org/drawingml/2006/main" prst="roundRect">
            <a:avLst>
              <a:gd name="adj" fmla="val 3077"/>
            </a:avLst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24E9C5-2F9E-43A9-95D9-57D56B121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1981200"/>
            <a:ext cx="3638550" cy="6096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F1F3F5"/>
          </a:solidFill>
          <a:ln xmlns:a="http://schemas.openxmlformats.org/drawingml/2006/main" w="9525">
            <a:solidFill>
              <a:srgbClr val="D6DCE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7F1A68-FAE2-4043-B37D-F99807E64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105025"/>
            <a:ext cx="1219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Approval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6E89FCF-DB4F-4D83-8F32-7116F136A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105025"/>
            <a:ext cx="1847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525A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25A66"/>
                </a:solidFill>
                <a:latin typeface="Helvetica Neue"/>
                <a:ea typeface="Helvetica Neue"/>
                <a:cs typeface="Helvetica Neue"/>
              </a:rPr>
              <a:t>Named operator approval before execution.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F2D91AA-6A26-44C1-8D75-B4A532222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857500"/>
            <a:ext cx="3638550" cy="6096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F1F3F5"/>
          </a:solidFill>
          <a:ln xmlns:a="http://schemas.openxmlformats.org/drawingml/2006/main" w="9525">
            <a:solidFill>
              <a:srgbClr val="D6DCE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AFF9EA3-9F2A-4ECA-A51A-E4A6A0F9D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981325"/>
            <a:ext cx="1219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Execution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41A829A-5DC1-46F2-82D3-6F475F4C9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981325"/>
            <a:ext cx="1847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525A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25A66"/>
                </a:solidFill>
                <a:latin typeface="Helvetica Neue"/>
                <a:ea typeface="Helvetica Neue"/>
                <a:cs typeface="Helvetica Neue"/>
              </a:rPr>
              <a:t>Recovery step outcome recorded.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BA6236A-A2A5-49F7-8566-905E0AD93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733800"/>
            <a:ext cx="3638550" cy="6096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E7F8F1"/>
          </a:solidFill>
          <a:ln xmlns:a="http://schemas.openxmlformats.org/drawingml/2006/main" w="9525">
            <a:solidFill>
              <a:srgbClr val="9ADBC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51BFE9D-1C45-4FF5-9170-C06B774A9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857625"/>
            <a:ext cx="1219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C8F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C8F63"/>
                </a:solidFill>
                <a:latin typeface="Helvetica Neue"/>
                <a:ea typeface="Helvetica Neue"/>
                <a:cs typeface="Helvetica Neue"/>
              </a:rPr>
              <a:t>Validation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4AF22AB-C3DB-4460-99BE-2BCA6D033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857625"/>
            <a:ext cx="1847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525A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25A66"/>
                </a:solidFill>
                <a:latin typeface="Helvetica Neue"/>
                <a:ea typeface="Helvetica Neue"/>
                <a:cs typeface="Helvetica Neue"/>
              </a:rPr>
              <a:t>Post-recovery state checked against expected state.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01E4A6D-B165-492A-AD2B-D877FF39D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4610100"/>
            <a:ext cx="3638550" cy="6096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F1F3F5"/>
          </a:solidFill>
          <a:ln xmlns:a="http://schemas.openxmlformats.org/drawingml/2006/main" w="9525">
            <a:solidFill>
              <a:srgbClr val="D6DCE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E74CBFF-D5FF-430F-A018-F32C3DC36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4733925"/>
            <a:ext cx="1219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Boundaries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48BE6EC-A8F8-4762-9E7E-39F745A77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4733925"/>
            <a:ext cx="1847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525A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25A66"/>
                </a:solidFill>
                <a:latin typeface="Helvetica Neue"/>
                <a:ea typeface="Helvetica Neue"/>
                <a:cs typeface="Helvetica Neue"/>
              </a:rPr>
              <a:t>Evidence excludes business document content.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E675F4D-A364-4FC0-B2A5-F3BDF2D66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2460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7A849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7A8492"/>
                </a:solidFill>
                <a:latin typeface="Helvetica Neue"/>
                <a:ea typeface="Helvetica Neue"/>
                <a:cs typeface="Helvetica Neue"/>
              </a:rPr>
              <a:t>KavachIQ Agentic Incident Recovery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A481EE7-E11C-4426-BF3E-B1A536B98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2460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7A849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7A8492"/>
                </a:solidFill>
                <a:latin typeface="Helvetica Neue"/>
                <a:ea typeface="Helvetica Neue"/>
                <a:cs typeface="Helvetica Neue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27258613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30D1940-9E4C-4314-AF18-B085B3BCB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6750"/>
            <a:ext cx="3810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7A849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7A8492"/>
                </a:solidFill>
                <a:latin typeface="Helvetica Neue"/>
                <a:ea typeface="Helvetica Neue"/>
                <a:cs typeface="Helvetica Neue"/>
              </a:rPr>
              <a:t>Next step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002139-C782-4879-BDB6-CE197A7CC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24000"/>
            <a:ext cx="7239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6154"/>
          </a:bodyPr>
          <a:lstStyle xmlns:a="http://schemas.openxmlformats.org/drawingml/2006/main"/>
          <a:p xmlns:a="http://schemas.openxmlformats.org/drawingml/2006/main">
            <a:pPr algn="l">
              <a:buNone/>
              <a:def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Bring a scenario. We will walk the recovery.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4C9EF6-CF64-477C-ADAB-E108FA55F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914650"/>
            <a:ext cx="6381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525A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525A66"/>
                </a:solidFill>
                <a:latin typeface="Helvetica Neue"/>
                <a:ea typeface="Helvetica Neue"/>
                <a:cs typeface="Helvetica Neue"/>
              </a:rPr>
              <a:t>In a tailored recovery walkthrough, your team sees the full flow against a representative Microsoft 365 incident.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10AC9D-5929-479D-9FBB-BA472AEBE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767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BDF6"/>
          </a:solidFill>
          <a:ln xmlns:a="http://schemas.openxmlformats.org/drawingml/2006/main" w="9525">
            <a:solidFill>
              <a:srgbClr val="22BDF6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4F7B47-E40C-4348-8F7D-7FCA4B98C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43375"/>
            <a:ext cx="26670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A7B995-BBDE-4C9B-A12B-9FB01C566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095750"/>
            <a:ext cx="581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Confirm the agent incident scenario to model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0BD2B3-DC7C-4645-B32A-162F02715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148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161C79-3298-4590-9EC1-F1A090423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81525"/>
            <a:ext cx="26670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150403A-69DD-4428-BFAF-34456646B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533900"/>
            <a:ext cx="581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Walk through blast radius and recovery sequence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195E008-E6F3-440C-9ACB-34970DB46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530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E62B97A-2F2B-4682-B269-AFEA1A560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019675"/>
            <a:ext cx="26670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1A36BA8-E3F9-40DC-AF9A-CF76B9349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972050"/>
            <a:ext cx="581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Review approval, validation, and evidence output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58D5ADA-C648-44B7-A7BA-5632406F7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3911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D210A46-933C-4984-9BE1-7DC0B1B8C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457825"/>
            <a:ext cx="26670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A94F03E-794C-426E-BB29-95B112101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410200"/>
            <a:ext cx="581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Decide whether to run a design-partner evaluation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553A34A-2F4F-4B11-B7CE-A57C0DA08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428750"/>
            <a:ext cx="2857500" cy="2857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7FC"/>
          </a:solidFill>
          <a:ln xmlns:a="http://schemas.openxmlformats.org/drawingml/2006/main" w="9525">
            <a:solidFill>
              <a:srgbClr val="9ADFF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A0D1994-8347-408E-9081-D6FAD04EB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286000"/>
            <a:ext cx="285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5100" b="1">
                <a:solidFill>
                  <a:srgbClr val="088DD0"/>
                </a:solidFill>
                <a:latin typeface="Helvetica Neue"/>
                <a:ea typeface="Helvetica Neue"/>
                <a:cs typeface="Helvetica Neue"/>
              </a:defRPr>
            </a:pPr>
            <a:r>
              <a:rPr sz="5100" b="1">
                <a:solidFill>
                  <a:srgbClr val="088DD0"/>
                </a:solidFill>
                <a:latin typeface="Helvetica Neue"/>
                <a:ea typeface="Helvetica Neue"/>
                <a:cs typeface="Helvetica Neue"/>
              </a:rPr>
              <a:t>AIR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2C15B54-BA98-4A8A-B884-A82E582DC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086100"/>
            <a:ext cx="2095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Agentic Incident Recovery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238E15A-BFB4-4BDB-AD37-D2148E06A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9530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088DD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88DD0"/>
                </a:solidFill>
                <a:latin typeface="Helvetica Neue"/>
                <a:ea typeface="Helvetica Neue"/>
                <a:cs typeface="Helvetica Neue"/>
              </a:rPr>
              <a:t>agents.kavachiq.com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0C33C1B-DD21-43E4-9429-21C551D6A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2460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7A849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7A8492"/>
                </a:solidFill>
                <a:latin typeface="Helvetica Neue"/>
                <a:ea typeface="Helvetica Neue"/>
                <a:cs typeface="Helvetica Neue"/>
              </a:rPr>
              <a:t>KavachIQ Agentic Incident Recovery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CF29175-6C44-485C-9FC3-90440222B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2460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7A849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7A8492"/>
                </a:solidFill>
                <a:latin typeface="Helvetica Neue"/>
                <a:ea typeface="Helvetica Neue"/>
                <a:cs typeface="Helvetica Neue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49818457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2026-08-14T03:28:46.0880000Z</dcterms:created>
  <dcterms:modified xsi:type="dcterms:W3CDTF">2026-08-14T03:28:46.0880000Z</dcterms:modified>
</coreProperties>
</file>