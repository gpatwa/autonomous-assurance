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cc628b78b34018" /><Relationship Type="http://schemas.openxmlformats.org/officeDocument/2006/relationships/extended-properties" Target="/docProps/app.xml" Id="Rf1cd39ac6d5a4ba7" /><Relationship Type="http://schemas.openxmlformats.org/officeDocument/2006/relationships/officeDocument" Target="/ppt/presentation.xml" Id="R112e0a30cad948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4ad36bfa5a48d1"/>
  </p:sldMasterIdLst>
  <p:notesMasterIdLst>
    <p:notesMasterId xmlns:r="http://schemas.openxmlformats.org/officeDocument/2006/relationships" r:id="R87904a11ef08462c"/>
  </p:notesMasterIdLst>
  <p:sldIdLst>
    <p:sldId xmlns:r="http://schemas.openxmlformats.org/officeDocument/2006/relationships" id="256" r:id="Re199a452eee54f04"/>
    <p:sldId xmlns:r="http://schemas.openxmlformats.org/officeDocument/2006/relationships" id="257" r:id="Rfc2713bebebd4fef"/>
    <p:sldId xmlns:r="http://schemas.openxmlformats.org/officeDocument/2006/relationships" id="258" r:id="Rc93673b175174654"/>
    <p:sldId xmlns:r="http://schemas.openxmlformats.org/officeDocument/2006/relationships" id="259" r:id="Ra9b744a4c0114b02"/>
    <p:sldId xmlns:r="http://schemas.openxmlformats.org/officeDocument/2006/relationships" id="260" r:id="Re4b2134f5d2544ec"/>
    <p:sldId xmlns:r="http://schemas.openxmlformats.org/officeDocument/2006/relationships" id="261" r:id="R493e11e60ee5485b"/>
    <p:sldId xmlns:r="http://schemas.openxmlformats.org/officeDocument/2006/relationships" id="262" r:id="Rc524d8c567c24798"/>
    <p:sldId xmlns:r="http://schemas.openxmlformats.org/officeDocument/2006/relationships" id="263" r:id="R6ab9ca86aac94e28"/>
    <p:sldId xmlns:r="http://schemas.openxmlformats.org/officeDocument/2006/relationships" id="264" r:id="Rdaf95bc5492d4d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a6a87d9e0f4d27" /><Relationship Type="http://schemas.openxmlformats.org/officeDocument/2006/relationships/slideMaster" Target="/ppt/slideMasters/slideMaster1.xml" Id="Rdb4ad36bfa5a48d1" /><Relationship Type="http://schemas.openxmlformats.org/officeDocument/2006/relationships/notesMaster" Target="/ppt/notesMasters/notesMaster1.xml" Id="R87904a11ef08462c" /><Relationship Type="http://schemas.openxmlformats.org/officeDocument/2006/relationships/presProps" Target="/ppt/presProps.xml" Id="R9b9b6dd437744dd1" /><Relationship Type="http://schemas.openxmlformats.org/officeDocument/2006/relationships/tableStyles" Target="/ppt/tableStyles.xml" Id="R81c25d9efbf647ee" /><Relationship Type="http://schemas.openxmlformats.org/officeDocument/2006/relationships/slide" Target="/ppt/slides/slide1.xml" Id="Re199a452eee54f04" /><Relationship Type="http://schemas.openxmlformats.org/officeDocument/2006/relationships/slide" Target="/ppt/slides/slide2.xml" Id="Rfc2713bebebd4fef" /><Relationship Type="http://schemas.openxmlformats.org/officeDocument/2006/relationships/slide" Target="/ppt/slides/slide3.xml" Id="Rc93673b175174654" /><Relationship Type="http://schemas.openxmlformats.org/officeDocument/2006/relationships/slide" Target="/ppt/slides/slide4.xml" Id="Ra9b744a4c0114b02" /><Relationship Type="http://schemas.openxmlformats.org/officeDocument/2006/relationships/slide" Target="/ppt/slides/slide5.xml" Id="Re4b2134f5d2544ec" /><Relationship Type="http://schemas.openxmlformats.org/officeDocument/2006/relationships/slide" Target="/ppt/slides/slide6.xml" Id="R493e11e60ee5485b" /><Relationship Type="http://schemas.openxmlformats.org/officeDocument/2006/relationships/slide" Target="/ppt/slides/slide7.xml" Id="Rc524d8c567c24798" /><Relationship Type="http://schemas.openxmlformats.org/officeDocument/2006/relationships/slide" Target="/ppt/slides/slide8.xml" Id="R6ab9ca86aac94e28" /><Relationship Type="http://schemas.openxmlformats.org/officeDocument/2006/relationships/slide" Target="/ppt/slides/slide9.xml" Id="Rdaf95bc5492d4d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a70e0d1c7c48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23c0cd4b574114" /><Relationship Type="http://schemas.openxmlformats.org/officeDocument/2006/relationships/notesMaster" Target="/ppt/notesMasters/notesMaster1.xml" Id="Rbab9d3691dbe48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1d7b5053f940f0" /><Relationship Type="http://schemas.openxmlformats.org/officeDocument/2006/relationships/notesMaster" Target="/ppt/notesMasters/notesMaster1.xml" Id="Rc891bd3a04a34c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075acc23e04e45" /><Relationship Type="http://schemas.openxmlformats.org/officeDocument/2006/relationships/notesMaster" Target="/ppt/notesMasters/notesMaster1.xml" Id="R3f10f797a62a40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ec3042cc3f4615" /><Relationship Type="http://schemas.openxmlformats.org/officeDocument/2006/relationships/notesMaster" Target="/ppt/notesMasters/notesMaster1.xml" Id="R252836fa43db4f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f67d88d9464869" /><Relationship Type="http://schemas.openxmlformats.org/officeDocument/2006/relationships/notesMaster" Target="/ppt/notesMasters/notesMaster1.xml" Id="R8097adce65a343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71acea3a684fc3" /><Relationship Type="http://schemas.openxmlformats.org/officeDocument/2006/relationships/notesMaster" Target="/ppt/notesMasters/notesMaster1.xml" Id="R167db9d6c1864c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a903496f9448da" /><Relationship Type="http://schemas.openxmlformats.org/officeDocument/2006/relationships/notesMaster" Target="/ppt/notesMasters/notesMaster1.xml" Id="R2cf2adf74a714e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77e36160d74d74" /><Relationship Type="http://schemas.openxmlformats.org/officeDocument/2006/relationships/notesMaster" Target="/ppt/notesMasters/notesMaster1.xml" Id="R238b571ac3e44b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6f5dabb45e4b1a" /><Relationship Type="http://schemas.openxmlformats.org/officeDocument/2006/relationships/notesMaster" Target="/ppt/notesMasters/notesMaster1.xml" Id="R51fe063daadd43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wedge, not the company history: KavachIQ is Agentic Incident Recovery for Microsoft 365.</a:t>
            </a:r>
          </a:p>
          <a:p xmlns:a="http://schemas.openxmlformats.org/drawingml/2006/main">
            <a:r>
              <a:t>Use this deck to frame the live product walkthrough. Do not over-present the deck if the product demo is available.</a:t>
            </a:r>
          </a:p>
          <a:p xmlns:a="http://schemas.openxmlformats.org/drawingml/2006/main">
            <a:r>
              <a:t>[Sources] docs/DEMO_SCRIPT.md; docs/BUYER_EXEC_ONE_PAGER.md; artifacts/demo-video/frames/01-home-hero.png.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setup slide. Emphasize that agents are now operators inside the tenant.</a:t>
            </a:r>
          </a:p>
          <a:p xmlns:a="http://schemas.openxmlformats.org/drawingml/2006/main">
            <a:r>
              <a:t>Keep the conversation concrete: group membership, sharing links, Conditional Access, DLP labels, mailbox delegation.</a:t>
            </a:r>
          </a:p>
          <a:p xmlns:a="http://schemas.openxmlformats.org/drawingml/2006/main">
            <a:r>
              <a:t>[Sources] docs/BUYER_EXEC_ONE_PAGER.md; docs/PLATFORM_PAGE_COPY_V1.md.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differentiation slide. Do not make backup or SIEM the enemy; they are adjacent and often partner layers.</a:t>
            </a:r>
          </a:p>
          <a:p xmlns:a="http://schemas.openxmlformats.org/drawingml/2006/main">
            <a:r>
              <a:t>The line to use: Detection is mature. Operational recovery is the missing layer.</a:t>
            </a:r>
          </a:p>
          <a:p xmlns:a="http://schemas.openxmlformats.org/drawingml/2006/main">
            <a:r>
              <a:t>[Sources] docs/COMPETITIVE_POSITIONING_V1.md; docs/BUYER_EXEC_ONE_PAGER.md; docs/LANDING_PAGE_COPY_V2.md.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the scenario the prospect will see in the live walkthrough. It is not a customer incident.</a:t>
            </a:r>
          </a:p>
          <a:p xmlns:a="http://schemas.openxmlformats.org/drawingml/2006/main">
            <a:r>
              <a:t>The important point is the conversion from low-level audit events into an operator-understandable recovery case.</a:t>
            </a:r>
          </a:p>
          <a:p xmlns:a="http://schemas.openxmlformats.org/drawingml/2006/main">
            <a:r>
              <a:t>[Sources] docs/CANONICAL_SCENARIO_FIXTURE.md; docs/DEMO_SCRIPT.md; docs/DEMO_CHEAT_SHEET.md.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simplest product narrative: alert, map, plan, approve, validate.</a:t>
            </a:r>
          </a:p>
          <a:p xmlns:a="http://schemas.openxmlformats.org/drawingml/2006/main">
            <a:r>
              <a:t>Say: Observability explains the failure. KavachIQ reverses the damage.</a:t>
            </a:r>
          </a:p>
          <a:p xmlns:a="http://schemas.openxmlformats.org/drawingml/2006/main">
            <a:r>
              <a:t>[Sources] docs/DEMO_SCRIPT.md; docs/LANDING_PAGE_COPY_V2.md; docs/PLATFORM_PAGE_COPY_V1.md.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get stuck on every object in the screenshot. The buyer takeaway is dependency-aware blast radius.</a:t>
            </a:r>
          </a:p>
          <a:p xmlns:a="http://schemas.openxmlformats.org/drawingml/2006/main">
            <a:r>
              <a:t>Name the M365 categories: identities, SharePoint, Exchange, Teams, applications, Conditional Access.</a:t>
            </a:r>
          </a:p>
          <a:p xmlns:a="http://schemas.openxmlformats.org/drawingml/2006/main">
            <a:r>
              <a:t>[Sources] docs/DEMO_SCRIPT.md; docs/CANONICAL_SCENARIO_FIXTURE.md; artifacts/demo-video/frames/03-demo-blast-radius.png.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buyers should understand why KavachIQ is not just a report. It proposes a real recovery sequence.</a:t>
            </a:r>
          </a:p>
          <a:p xmlns:a="http://schemas.openxmlformats.org/drawingml/2006/main">
            <a:r>
              <a:t>Also make the safety point: approval-gated reversal, no automated rollback by default.</a:t>
            </a:r>
          </a:p>
          <a:p xmlns:a="http://schemas.openxmlformats.org/drawingml/2006/main">
            <a:r>
              <a:t>[Sources] docs/PLATFORM_PAGE_COPY_V1.md; docs/DEMO_SCRIPT.md; artifacts/demo-video/frames/04-demo-recovery-plan.png.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trust slide. Keep it outcome-led: approval, execution, validation, evidence boundaries.</a:t>
            </a:r>
          </a:p>
          <a:p xmlns:a="http://schemas.openxmlformats.org/drawingml/2006/main">
            <a:r>
              <a:t>Do not go into procurement-only detail unless the call is under NDA and the buyer asks.</a:t>
            </a:r>
          </a:p>
          <a:p xmlns:a="http://schemas.openxmlformats.org/drawingml/2006/main">
            <a:r>
              <a:t>[Sources] docs/DEMO_SCRIPT.md; docs/BUYER_EXEC_ONE_PAGER.md; docs/PROCUREMENT_SECURITY_DETAIL_V1.md for internal trust posture only; artifacts/demo-video/frames/07-console-evidence.png.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concrete next step: tailored recovery walkthrough, not a generic demo.</a:t>
            </a:r>
          </a:p>
          <a:p xmlns:a="http://schemas.openxmlformats.org/drawingml/2006/main">
            <a:r>
              <a:t>Ask the prospect to bring their worst-case Microsoft 365 agent scenario.</a:t>
            </a:r>
          </a:p>
          <a:p xmlns:a="http://schemas.openxmlformats.org/drawingml/2006/main">
            <a:r>
              <a:t>[Sources] docs/DEMO_SCRIPT.md; docs/BUYER_EXEC_ONE_PAGER.md.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54e2757ad49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24d3412ab547c1" /><Relationship Type="http://schemas.openxmlformats.org/officeDocument/2006/relationships/slideLayout" Target="/ppt/slideLayouts/slideLayout1.xml" Id="Rbb88d313393e48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88d313393e48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d8b4d5cb045cf" /><Relationship Type="http://schemas.openxmlformats.org/officeDocument/2006/relationships/image" Target="/ppt/media/image.jpeg" Id="Rb4f09e382bd14ba3" /><Relationship Type="http://schemas.openxmlformats.org/officeDocument/2006/relationships/notesSlide" Target="/ppt/notesSlides/notesSlide1.xml" Id="Rf747147b23a54d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b945686cd4897" /><Relationship Type="http://schemas.openxmlformats.org/officeDocument/2006/relationships/notesSlide" Target="/ppt/notesSlides/notesSlide2.xml" Id="Rda6e187af8fa43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d002577974707" /><Relationship Type="http://schemas.openxmlformats.org/officeDocument/2006/relationships/notesSlide" Target="/ppt/notesSlides/notesSlide3.xml" Id="Reae8764ffae148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ed4220d304587" /><Relationship Type="http://schemas.openxmlformats.org/officeDocument/2006/relationships/notesSlide" Target="/ppt/notesSlides/notesSlide4.xml" Id="Ra72b5dc8ce2d48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343207e7c4d06" /><Relationship Type="http://schemas.openxmlformats.org/officeDocument/2006/relationships/notesSlide" Target="/ppt/notesSlides/notesSlide5.xml" Id="R2019b3767ef945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159d9171a4063" /><Relationship Type="http://schemas.openxmlformats.org/officeDocument/2006/relationships/image" Target="/ppt/media/image2.jpeg" Id="R71163f0cde3042f4" /><Relationship Type="http://schemas.openxmlformats.org/officeDocument/2006/relationships/notesSlide" Target="/ppt/notesSlides/notesSlide6.xml" Id="R47940dda940b4a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b5c0802554a97" /><Relationship Type="http://schemas.openxmlformats.org/officeDocument/2006/relationships/image" Target="/ppt/media/image3.jpeg" Id="R8544c64ce1fa483a" /><Relationship Type="http://schemas.openxmlformats.org/officeDocument/2006/relationships/notesSlide" Target="/ppt/notesSlides/notesSlide7.xml" Id="R273072d5565141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a9e31d27445f5" /><Relationship Type="http://schemas.openxmlformats.org/officeDocument/2006/relationships/image" Target="/ppt/media/image4.jpeg" Id="R5719271575414eb3" /><Relationship Type="http://schemas.openxmlformats.org/officeDocument/2006/relationships/notesSlide" Target="/ppt/notesSlides/notesSlide8.xml" Id="Ra5af3b1e12784f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1928d83cf4e09" /><Relationship Type="http://schemas.openxmlformats.org/officeDocument/2006/relationships/notesSlide" Target="/ppt/notesSlides/notesSlide9.xml" Id="R33a3d30a21a74b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5FFA8-45E0-4AB1-A04B-47C71D77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KavachIQ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47F1C-BDDB-4D03-A6F5-EC64E622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D"/>
          </a:solidFill>
          <a:ln xmlns:a="http://schemas.openxmlformats.org/drawingml/2006/main" w="9525">
            <a:solidFill>
              <a:srgbClr val="A7E5F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8EE8A-A7D7-41F7-BA06-EA225D08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8107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rPr>
              <a:t>PROSPECT DEMO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D0D87-A862-4549-8EFE-40496DC2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5381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undo button for AI-agent incidents.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5E75D-011E-4A7B-A8C2-7521A309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0958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A prospect-safe walkthrough for security and Microsoft 365 leaders: how KavachIQ maps blast radius, proposes recovery, gates approval, executes reversal, and preserves evidence.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09e382bd14ba3"/>
          <a:stretch xmlns:a="http://schemas.openxmlformats.org/drawingml/2006/main"/>
        </p:blipFill>
        <p:spPr>
          <a:xfrm xmlns:a="http://schemas.openxmlformats.org/drawingml/2006/main">
            <a:off x="6400800" y="1225318"/>
            <a:ext cx="5257800" cy="2445215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2447F-A74D-4F6E-99CA-819DF6FD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76750"/>
            <a:ext cx="5257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1632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425E1-6932-45DD-B478-14E2FC69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245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Built first for Microsoft 365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3AD08-998C-4DC7-8AD1-CDD81E87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C5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7C5D6"/>
                </a:solidFill>
                <a:latin typeface="Helvetica Neue"/>
                <a:ea typeface="Helvetica Neue"/>
                <a:cs typeface="Helvetica Neue"/>
              </a:rPr>
              <a:t>Recovery after the agent changes identity, sharing, permissions, Conditional Access, DLP, or data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EB06D-ECB0-41F1-A5AC-F9CEFC7D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A7C45-A9A8-4EF8-A3B9-07173E08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56571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83BD76-F48E-4AD8-AA3F-5B1D0FB4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agents now change enterprise state, not just text.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0FA80-3D43-40E3-88F1-CDC0D99B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The risk is operational: identity, access, collaboration, and policy changes can cascade faster than a manual runbook.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9FE4F-8710-4912-962E-529C2519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When an agent acts wrong, the question is no longer only why it acted. The operational question is what changed, what depends on it, and what must be reversed first.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87528-AC9E-4FF2-BABE-6089A9DC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buyer pain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2D62E-A41C-42F0-9D60-CE52572C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A 2:47 a.m. alert becomes a multi-team Microsoft 365 recovery problem: identity, collaboration, policy, evidence, and executive reporting.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5D7DE-7D5B-4489-AC35-811C7925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6324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16D37-C56C-4AF1-B172-86C09347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669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Entra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71580-8FBB-4B2A-B072-72D2D330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764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Users, groups, roles, apps, service principals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8C761-73DC-4362-B631-35FE378D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52700"/>
            <a:ext cx="6324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4D707-5932-44C1-A7CB-46E5CA95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765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SharePoint and OneDrive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9FB09-0461-43FA-A29D-7D30524B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8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Sharing links, site permissions, item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711F1-A41C-4774-AF8E-A8B61AAF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62300"/>
            <a:ext cx="6324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250A9-670C-4C3F-9B7E-69DCAEF1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861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7B55A-C371-4619-9906-C655D570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956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Mailbox delegation, send-as, rules, transport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3F09D-F1A4-47E9-B207-9DD46BA7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71900"/>
            <a:ext cx="6324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60F05-7697-4DD6-82A2-A885C7C2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957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5C92C-DB40-4F12-B804-F55A275E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052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Team membership, channels, guest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E0D0E-7299-47DA-9731-E4C70F9E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324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85E33-8FF6-4C70-BCB5-7ED577C0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053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Conditional 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24F65-74E4-434E-BF64-62D8425C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14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Policy scope, exemptions, sign-in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724A7-101F-4171-AFFE-6E16A6DB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91100"/>
            <a:ext cx="63246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ACDBC-D8E7-4467-84C7-2F7B284E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149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Purview and DLP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1B7D95-BEB7-4CAB-BFD1-CF294119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244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Labels, restrictions, sensitive data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88AFA-DF54-402F-A3D0-D398D58F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5011D0-6CF2-4CCB-BD6B-FA92B933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39227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6C67B4-7E4B-403A-9704-1AAA269D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current stack alerts and restores. It does not surgically undo.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822B8-0C1E-4265-A0B8-5F9EA971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KavachIQ runs downstream of detection and alongside backup, focused on the agent's specific actions.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6263E-8221-4A11-A4D6-8B44770F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5240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D827A-EC6A-401B-A47E-14B2AD38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A6D14-B4AD-4621-901C-C067B835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81200"/>
            <a:ext cx="29337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26A75-8CCA-4322-8AD1-AA2C77D5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240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34BDE-CF5B-4E96-92EA-E05802E7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81200"/>
            <a:ext cx="2952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6D12A-1453-4CCE-9674-CE03E60D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2407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it does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0D7EF-1594-4C10-A9D7-D6821431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2952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A967B-4FD5-459E-8196-FA9563B8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2407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Where it stops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0C9CD-C3B9-412A-9CCF-01A25F36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152400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1C63F-7ECB-4731-BEDB-F27E615B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BFB29-DD70-4831-941B-5FCDF1CA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38400"/>
            <a:ext cx="293370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6DFB8-93E5-411A-8AC3-6C7CDCCB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098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Purview, Defender, Sentinel, SIEM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4C6F7-5BC4-42D0-B161-10718570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38400"/>
            <a:ext cx="295275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6864C-A9FD-4CB4-8C8E-5C951FBE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098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Tells you something happened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D9AB4-EA0E-4EAC-B8A4-62E38984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38400"/>
            <a:ext cx="295275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3D400-C013-4F1B-B1B1-56F3D475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98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3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53C4E"/>
                </a:solidFill>
                <a:latin typeface="Helvetica Neue"/>
                <a:ea typeface="Helvetica Neue"/>
                <a:cs typeface="Helvetica Neue"/>
              </a:rPr>
              <a:t>Does not reverse the 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07C7A-B07B-41A8-B597-5C5DE1F1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152400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25DB8-F449-43E4-92E4-2965D57D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4FB6EC-B02B-419F-A07A-3C898CCF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38500"/>
            <a:ext cx="293370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B23E80-D723-4896-9E3B-253592E2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099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M365 Backup, Rubrik, Cohesity, Veeam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A9A240-86DD-443D-A532-144052C1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38500"/>
            <a:ext cx="295275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C31DE-8EA6-4006-80C4-0C936E07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099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Restores data to a point in 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83E61E-D751-485D-92BF-3375CAF6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38500"/>
            <a:ext cx="295275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B02AFF-2078-4A07-93CF-62E3E6B8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099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3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53C4E"/>
                </a:solidFill>
                <a:latin typeface="Helvetica Neue"/>
                <a:ea typeface="Helvetica Neue"/>
                <a:cs typeface="Helvetica Neue"/>
              </a:rPr>
              <a:t>Loses legitimate work and misses identity/policy actions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C272F7-21D0-47FE-8328-5D1455B7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152400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D3887-AB35-480C-897C-DB4F2D65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E6F319-C417-4264-86DB-97C145B7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38600"/>
            <a:ext cx="293370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39DF75-964B-4B54-85C8-59F9FDA4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1005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Policies, access reviews, guardrails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AF4E91-DF23-4B16-B4D8-E6028AC6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38600"/>
            <a:ext cx="295275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5F6E9C-A4B9-46EE-B47B-45C138D1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100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Sets rules before the fact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DD119F-55D6-490C-9631-86985538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38600"/>
            <a:ext cx="2952750" cy="800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FD5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45058C-19B8-4E3B-828D-2B0B2874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100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53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53C4E"/>
                </a:solidFill>
                <a:latin typeface="Helvetica Neue"/>
                <a:ea typeface="Helvetica Neue"/>
                <a:cs typeface="Helvetica Neue"/>
              </a:rPr>
              <a:t>Cannot unwind a high-impact change once it lands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A2814F-26A1-4070-8286-D61760CF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11125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9ADFF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7395A8-F1AE-45CD-B6F8-E9550C6F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rPr>
              <a:t>KavachIQ closes the gap: alert -&gt; blast radius -&gt; approved reversal -&gt; validation -&gt; evidence.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3EEF82-6F78-41E8-B486-25BC32ED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29F9A6-D7FF-4101-8EC1-6B4273BC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7616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3A510C-A595-4FFE-A4F3-3E95FA96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demo follows one controlled Microsoft 365 incident.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05CCF-EFFB-48C0-BFDA-805F7D91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A known service-principal agent expands privileged finance access. KavachIQ turns the raw change burst into a recovery case.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AC087-C9BF-46B9-9779-83A8D088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4343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1A324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0FFA3-1409-4BAF-8855-EE76264B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276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1B567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DB42A-7CFA-407B-B2C7-2D7A3AD2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2BD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2BDF6"/>
                </a:solidFill>
                <a:latin typeface="Helvetica Neue"/>
                <a:ea typeface="Helvetica Neue"/>
                <a:cs typeface="Helvetica Neue"/>
              </a:rPr>
              <a:t>DEMO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B5C20-D650-4BAD-8AC0-B5CB4D36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2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Privileged group membership expansion by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F7FB5-F727-4787-8346-E1B1EDE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3695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8D2DE"/>
                </a:solidFill>
                <a:latin typeface="Helvetica Neue"/>
                <a:ea typeface="Helvetica Neue"/>
                <a:cs typeface="Helvetica Neue"/>
              </a:rPr>
              <a:t>Access Lifecycle Agent adds 12 users to Finance-Privileged-Access inside a short operation window.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A3B2A-1FD8-4EB0-875E-D4E2A320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DA0B5"/>
                </a:solidFill>
                <a:latin typeface="Helvetica Neue"/>
                <a:ea typeface="Helvetica Neue"/>
                <a:cs typeface="Helvetica Neue"/>
              </a:rPr>
              <a:t>Representative demo tenant. No customer content.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A7052-72A3-482E-9BE5-CE76D821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1809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48DE5-AE0C-451D-87B3-C9AC338D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479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63DAF-B05E-47D2-BA55-4D3F6A2A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289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root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45FFF-1EC9-4877-9288-6629D7E5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1809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F6"/>
          </a:solidFill>
          <a:ln xmlns:a="http://schemas.openxmlformats.org/drawingml/2006/main" w="9525">
            <a:solidFill>
              <a:srgbClr val="F3B3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16082-B789-4246-AAE2-9076CE45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3C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3C4E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2198B-E4F8-4253-B2D2-64442F93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289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incident severity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2BA2B-2651-4D14-82FC-33912979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1809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52D23-8C35-4BA9-A102-E108156C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479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1A542-F40A-46D2-828D-53007155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289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agent session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4A898-51F8-4CF6-ADD7-C8BCE466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0767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00CB6-99D7-4489-A0E7-CCB50350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90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AAED0-C8F7-4239-A9C8-702C994C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62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CDA58-CD9D-4C7E-9204-E5CCA16C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2915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Raw audit events from the agent action window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9015F-7296-41C8-8685-85FDBCC4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90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29DA0F-E0B6-4B23-A012-2A0858C5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62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Correlate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5246A-7E34-46E0-8F00-A55DBCAF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Changes grouped by actor, target, time, and sensitivity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156D0-694A-43E8-9239-09BFDEE8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90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09E7E5-02A9-46BE-827E-20A46626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2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Classify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717716-6BA6-40AB-B517-AB7C81D7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2915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High-sensitivity group plus bulk membership change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702AC7-87FA-431D-8ED9-30919FD5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90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DF6"/>
          </a:solidFill>
          <a:ln xmlns:a="http://schemas.openxmlformats.org/drawingml/2006/main" w="9525">
            <a:solidFill>
              <a:srgbClr val="22BD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D763FA-A825-4144-9C7E-90342B86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624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 case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BEB169-7D8B-4974-A7DE-D7A693FE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2915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Recovery plan generated for operator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0F700F-03D6-477C-B174-15EF0DF2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4B21A0-4F29-4762-BE41-FD68237A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664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B9C7AF-AF11-49C0-BAA1-4886E085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product workflow is the pitch.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0009B-5BE2-469A-BC38-C794219A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Keep the buyer anchored on what they can see and approve, not on backend architecture.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54FF7-E807-4D99-A5D0-A430A47A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EB6C8-11D1-4C29-8D86-6F2F5992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95592-BE01-4384-AADD-6D35BD43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30633-4A5D-483D-B4B2-5327910D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71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5441D-0BC4-4139-8542-CCEAD55E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3385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Incident signal from Sentinel, Purview, Defender, or SIEM/SOAR.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C7419-25EB-4A77-A912-3DF021CD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67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BD21E-6D53-4D9D-9842-102E6E22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860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058EB-3800-4B99-87E9-75749FBB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71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Blast radius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2C9F9-21F8-4652-B561-9AEE654D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13385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Agent changes attributed and mapped across M365 surfaces.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0D5F3-3C8F-4E7C-96AB-233F8F3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67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51274-DB86-4961-AB9B-69C1A6E1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860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506B0-A0B1-4263-A094-88F340DE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71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AB43B-C286-4282-AAD8-A7669317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13385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Reversal ordered by dependency: identity, access, sharing, policy,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8EB3A-3470-490A-BE39-586E4A9A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7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160E6-F6E4-4583-BBAF-D03B9D07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860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7F403-1574-4E16-A2D6-91BC82C3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71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5C34D-451A-425A-85D7-62A94198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13385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No automated rollback. Operator reviews the plan before execution.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428EC-77B8-4154-B359-BFE4999A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8F1"/>
          </a:solidFill>
          <a:ln xmlns:a="http://schemas.openxmlformats.org/drawingml/2006/main" w="9525">
            <a:solidFill>
              <a:srgbClr val="8FDA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1BF6B-9CA5-464F-AFBA-0AFF7F60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860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C8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C8F63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0F3D52-E2AA-4848-BA4F-EC09D5E0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71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C8890-2D6C-44EB-9887-7286D793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133850"/>
            <a:ext cx="1866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Expected state confirmed and evidence preserved.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24083-20F0-42A0-BB94-6BA87A2C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34000"/>
            <a:ext cx="77724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4DA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3AA4B9-89DF-477A-953D-5CF48A7E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467350"/>
            <a:ext cx="727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demo should make a buyer say: this is not monitoring; this is the recovery operating model.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7086AB-424B-440E-90B1-FEBE4162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D48902-CC21-46D6-8455-FCBA0636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3039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F8F6F-B4E8-441E-BCED-5D4B9DAC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Blast radius turns a change burst into a recovery map.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3FE10-4D01-4684-9428-3977182F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Before recovery begins, the operator sees what depends on the agent's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0A26B-BEF2-4530-AE1E-76CC318B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the buyer sees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4B85B-0729-42CB-8523-7AFC3A4F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38400"/>
            <a:ext cx="3448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Affected identities and downstream Microsoft 365 surfaces grouped into a readable recovery map.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FD417-D660-4990-8052-F6C5FBA2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E4B25-1E40-41E7-B65D-D0E32869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3448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Identity changes can inherit into SharePoint, Exchange, Teams, applications, and Conditional Access. Recovery order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F9BA5-2F65-49EA-9307-F9765939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3448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Prospect-safe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525FB-04EF-4CF2-B9C6-433720A9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3448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Screenshot is from a controlled demo environment, not customer data.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63f0cde3042f4"/>
          <a:srcRect xmlns:a="http://schemas.openxmlformats.org/drawingml/2006/main" l="8258" t="0" r="82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8200" y="1885950"/>
            <a:ext cx="701040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19C29-7DE4-4529-9E0F-0B1F73BF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99D3E-0117-4EA2-A616-292F493A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744631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96016-5561-4A7C-86E8-E76E97E1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is approval-gated and dependency-ordered.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294B2-66EE-4EC4-A2DE-520D1E69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KavachIQ proposes the reversal sequence; the operator remains in control before any change runs.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4c64ce1fa483a"/>
          <a:srcRect xmlns:a="http://schemas.openxmlformats.org/drawingml/2006/main" l="9732" t="0" r="97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09750"/>
            <a:ext cx="67627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EBAF7-E74E-40F8-813A-B3863F0B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4290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1930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242CB-FAA9-49AE-BECC-184AAFF2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Identity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A5EE8-47BF-4270-B6AE-68AC2F03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43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7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9C7D8"/>
                </a:solidFill>
                <a:latin typeface="Helvetica Neue"/>
                <a:ea typeface="Helvetica Neue"/>
                <a:cs typeface="Helvetica Neue"/>
              </a:rPr>
              <a:t>Undo group membership first so downstream access is not re-inherited.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10AED8-E364-4F6D-96FD-6F11FD3D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Operator approval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CD522-C008-4504-AE9F-256A743E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Every recovery step is proposed for human review. The platform does not silently roll back the tenant.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14C0F-1A5F-4CDB-8616-4DB763A5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244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Execution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BA7E3-710F-4FFA-84C0-8B8F49E2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482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Some actions execute directly; others can remain recommendation-only depending on policy and phase.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980B3-C1AB-47B4-B686-FA2B1D69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CA321-988E-4CC8-87EA-6595A76E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46456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F2173-B167-41BE-A631-64D81953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close is evidence, not a green check mark.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0726A-F2EA-4ED5-AB7A-08EF897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The buyer needs an auditable record of what changed, what was approved, what executed, and what was validated.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9271575414eb3"/>
          <a:srcRect xmlns:a="http://schemas.openxmlformats.org/drawingml/2006/main" l="9098" t="0" r="90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47850"/>
            <a:ext cx="653415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4E9C5-2F9E-43A9-95D9-57D56B12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81200"/>
            <a:ext cx="3638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F1A68-FAE2-4043-B37D-F99807E6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050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89FCF-DB4F-4D83-8F32-7116F136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0502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Named operator approval before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D91AA-6A26-44C1-8D75-B4A53222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57500"/>
            <a:ext cx="3638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F9EA3-9F2A-4ECA-A51A-E4A6A0F9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813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A829A-5DC1-46F2-82D3-6F475F4C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8132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Recovery step outcome recorded.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6236A-A2A5-49F7-8566-905E0AD9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33800"/>
            <a:ext cx="3638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9525">
            <a:solidFill>
              <a:srgbClr val="9ADB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BFE9D-1C45-4FF5-9170-C06B774A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8F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8F63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F22AB-C3DB-4460-99BE-2BCA6D03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Post-recovery state checked against expected state.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E4A6D-B165-492A-AD2B-D877FF39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10100"/>
            <a:ext cx="3638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6DC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4CBFF-D5FF-430F-A018-F32C3DC3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339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BE6EC-A8F8-4762-9E7E-39F745A7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3392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Evidence excludes business document content.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75F4D-A364-4FC0-B2A5-F3BDF2D6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81EE7-E11C-4426-BF3E-B1A536B9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725861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D1940-9E4C-4314-AF18-B085B3BC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02139-C782-4879-BDB6-CE197A7C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Bring a scenario. We will walk the recovery.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C9EF6-CF64-477C-ADAB-E108FA55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638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5A66"/>
                </a:solidFill>
                <a:latin typeface="Helvetica Neue"/>
                <a:ea typeface="Helvetica Neue"/>
                <a:cs typeface="Helvetica Neue"/>
              </a:rPr>
              <a:t>In a tailored recovery walkthrough, your team sees the full flow against a representative Microsoft 365 incident.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0AC9D-5929-479D-9FBB-BA472AEB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BDF6"/>
          </a:solidFill>
          <a:ln xmlns:a="http://schemas.openxmlformats.org/drawingml/2006/main" w="9525">
            <a:solidFill>
              <a:srgbClr val="22BD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F7B47-E40C-4348-8F7D-7FCA4B98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7B995-BBDE-4C9B-A12B-9FB01C56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Confirm the agent incident scenario to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BD2B3-DC7C-4645-B32A-162F0271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61C79-3298-4590-9EC1-F1A09042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81525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0403A-69DD-4428-BFAF-34456646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Walk through blast radius and recovery 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5E008-E6F3-440C-9ACB-34970DB4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2B97A-2F2B-4682-B269-AFEA1A56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9675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36BA8-E3F9-40DC-AF9A-CF76B934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approval, validation, and evidence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D5ADA-C648-44B7-A7BA-5632406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10A46-933C-4984-9BE1-7DC0B1B8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7825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4F03E-794C-426E-BB29-95B11210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020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Decide whether to run a design-partner evaluation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3A34A-2F4F-4B11-B7CE-A57C0DA0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9ADF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D1994-8347-408E-9081-D6FAD04E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rPr>
              <a:t>AIR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15B54-BA98-4A8A-B884-A82E582D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Agentic Incident Recovery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8E15A-BFB4-4BDB-AD37-D2148E06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8DD0"/>
                </a:solidFill>
                <a:latin typeface="Helvetica Neue"/>
                <a:ea typeface="Helvetica Neue"/>
                <a:cs typeface="Helvetica Neue"/>
              </a:rPr>
              <a:t>agents.kavachiq.com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C33C1B-DD21-43E4-9429-21C551D6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KavachIQ Agentic Incident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29175-6C44-485C-9FC3-90440222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A849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98184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2026-08-14T03:07:31.7080000Z</dcterms:created>
  <dcterms:modified xsi:type="dcterms:W3CDTF">2026-08-14T03:07:31.7080000Z</dcterms:modified>
</coreProperties>
</file>